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argument in seven minutes, built as five questions.</a:t>
            </a:r>
          </a:p>
          <a:p/>
          <a:p>
            <a:r>
              <a:t>Here is the shape. First, what we were asked. Second, what we found. Third,</a:t>
            </a:r>
          </a:p>
          <a:p>
            <a:r>
              <a:t>which of the three candidate explanations the evidence supports. Fourth, why</a:t>
            </a:r>
          </a:p>
          <a:p>
            <a:r>
              <a:t>the result that did not appear is the most useful one in the project. And</a:t>
            </a:r>
          </a:p>
          <a:p>
            <a:r>
              <a:t>fifth, what any of you should actually do differently on Monday.</a:t>
            </a:r>
          </a:p>
          <a:p/>
          <a:p>
            <a:r>
              <a:t>The one thing to carry out of the room is a decision rule about broken models.</a:t>
            </a:r>
          </a:p>
          <a:p>
            <a:r>
              <a:t>I will give it on the last slide, and everything before it is the evidence</a:t>
            </a:r>
          </a:p>
          <a:p>
            <a:r>
              <a:t>that earns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question is not whether people feel bad. We know they do. The question is</a:t>
            </a:r>
          </a:p>
          <a:p>
            <a:r>
              <a:t>whether the economy explains it, and if not, what does.</a:t>
            </a:r>
          </a:p>
          <a:p/>
          <a:p>
            <a:r>
              <a:t>Three candidates. A: the indicators miss something real. B: people see a</a:t>
            </a:r>
          </a:p>
          <a:p>
            <a:r>
              <a:t>distorted picture. C: the measuring instrument changed, or our model is too</a:t>
            </a:r>
          </a:p>
          <a:p>
            <a:r>
              <a:t>simple.</a:t>
            </a:r>
          </a:p>
          <a:p/>
          <a:p>
            <a:r>
              <a:t>Read the orange line out loud, because it is the discipline of the whole</a:t>
            </a:r>
          </a:p>
          <a:p>
            <a:r>
              <a:t>project. We were told not to assume pessimism is irrational, not to assume</a:t>
            </a:r>
          </a:p>
          <a:p>
            <a:r>
              <a:t>negative coverage is biased, and not to assume coverage causes the mood. Those</a:t>
            </a:r>
          </a:p>
          <a:p>
            <a:r>
              <a:t>are the three comfortable assumptions, and all three are testable. Pre-registering</a:t>
            </a:r>
          </a:p>
          <a:p>
            <a:r>
              <a:t>that is what makes the later null worth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Fit on fifteen years, 2010 to 2024, using the three indicators everyone uses:</a:t>
            </a:r>
          </a:p>
          <a:p>
            <a:r>
              <a:t>unemployment, inflation, GDP growth. It works. It explains about three quarters</a:t>
            </a:r>
          </a:p>
          <a:p>
            <a:r>
              <a:t>of the variation, and inflation matters roughly two and a half times as much as</a:t>
            </a:r>
          </a:p>
          <a:p>
            <a:r>
              <a:t>unemployment, which is worth knowing on its own.</a:t>
            </a:r>
          </a:p>
          <a:p/>
          <a:p>
            <a:r>
              <a:t>Then show it months it has never seen. In 2026-05 it expects</a:t>
            </a:r>
          </a:p>
          <a:p>
            <a:r>
              <a:t>78 and the survey comes in at 45.</a:t>
            </a:r>
          </a:p>
          <a:p>
            <a:r>
              <a:t>That is the red arrow.</a:t>
            </a:r>
          </a:p>
          <a:p/>
          <a:p>
            <a:r>
              <a:t>But the number that matters is the bottom one. A ninety five per cent interval</a:t>
            </a:r>
          </a:p>
          <a:p>
            <a:r>
              <a:t>is supposed to be breached about one month in twenty. Ours is breached</a:t>
            </a:r>
          </a:p>
          <a:p>
            <a:r>
              <a:t>19 times in 20, every single time downward. That</a:t>
            </a:r>
          </a:p>
          <a:p>
            <a:r>
              <a:t>is not an unlucky run. That is a missing variable, and the next slide asks</a:t>
            </a:r>
          </a:p>
          <a:p>
            <a:r>
              <a:t>which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chart is the honest version of model comparison: forecast errors on months</a:t>
            </a:r>
          </a:p>
          <a:p>
            <a:r>
              <a:t>each model had never seen.</a:t>
            </a:r>
          </a:p>
          <a:p/>
          <a:p>
            <a:r>
              <a:t>Three things in it. Adding the price level and the mortgage rate cuts the error</a:t>
            </a:r>
          </a:p>
          <a:p>
            <a:r>
              <a:t>by more than half, which is candidate A. Adding the media measures on top</a:t>
            </a:r>
          </a:p>
          <a:p>
            <a:r>
              <a:t>changes almost nothing. And the grey bar on the left is just last month's value</a:t>
            </a:r>
          </a:p>
          <a:p>
            <a:r>
              <a:t>with no model at all, and nothing beats it. If I showed you only R-squared,</a:t>
            </a:r>
          </a:p>
          <a:p>
            <a:r>
              <a:t>every model would look better than it is.</a:t>
            </a:r>
          </a:p>
          <a:p/>
          <a:p>
            <a:r>
              <a:t>Then the green line, which is the intuition for A. Inflation falling is a</a:t>
            </a:r>
          </a:p>
          <a:p>
            <a:r>
              <a:t>statement about a rate. A household pays a level. Prices stopped rising</a:t>
            </a:r>
          </a:p>
          <a:p>
            <a:r>
              <a:t>quickly; they never came down. A smaller increase on an already high price is</a:t>
            </a:r>
          </a:p>
          <a:p>
            <a:r>
              <a:t>not relief, and our indicators report the rate because a rate is what policy</a:t>
            </a:r>
          </a:p>
          <a:p>
            <a:r>
              <a:t>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reasons the null is solid.</a:t>
            </a:r>
          </a:p>
          <a:p/>
          <a:p>
            <a:r>
              <a:t>Two of the four media measures did reach five per cent. Correct for how many</a:t>
            </a:r>
          </a:p>
          <a:p>
            <a:r>
              <a:t>tests you ran and none survives. We declared that family in advance and counted</a:t>
            </a:r>
          </a:p>
          <a:p>
            <a:r>
              <a:t>every test, including the boring directions: a narrower family would have let</a:t>
            </a:r>
          </a:p>
          <a:p>
            <a:r>
              <a:t>two results through, and I am telling you that rather than choosing the family</a:t>
            </a:r>
          </a:p>
          <a:p>
            <a:r>
              <a:t>that flatters us.</a:t>
            </a:r>
          </a:p>
          <a:p/>
          <a:p>
            <a:r>
              <a:t>It also fails to forecast, it dies in all twenty four specification variants</a:t>
            </a:r>
          </a:p>
          <a:p>
            <a:r>
              <a:t>once household controls are present, and the only timing signal points the</a:t>
            </a:r>
          </a:p>
          <a:p>
            <a:r>
              <a:t>wrong way — mood first, coverage after.</a:t>
            </a:r>
          </a:p>
          <a:p/>
          <a:p>
            <a:r>
              <a:t>Then the red paragraph, which is the finding I would publish. Swap only the</a:t>
            </a:r>
          </a:p>
          <a:p>
            <a:r>
              <a:t>outlet's name in front of an identical sentence and the neural classifier</a:t>
            </a:r>
          </a:p>
          <a:p>
            <a:r>
              <a:t>changes its answer on one text in seventeen. The word list never moves. That</a:t>
            </a:r>
          </a:p>
          <a:p>
            <a:r>
              <a:t>model would have produced the result we were hunting for, and we would not have</a:t>
            </a:r>
          </a:p>
          <a:p>
            <a:r>
              <a:t>known.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to remember, and it generalises past consumer sentiment.</a:t>
            </a:r>
          </a:p>
          <a:p/>
          <a:p>
            <a:r>
              <a:t>When your model misses, the instinct is to re-fit it. Sometimes that is right:</a:t>
            </a:r>
          </a:p>
          <a:p>
            <a:r>
              <a:t>if the errors are large but balanced, the relationship still holds and the</a:t>
            </a:r>
          </a:p>
          <a:p>
            <a:r>
              <a:t>level has drifted. Recalibrate.</a:t>
            </a:r>
          </a:p>
          <a:p/>
          <a:p>
            <a:r>
              <a:t>But if the errors are one-sided and outside the interval, a variable that</a:t>
            </a:r>
          </a:p>
          <a:p>
            <a:r>
              <a:t>matters is missing, and re-fitting is the expensive mistake. The re-fitted model</a:t>
            </a:r>
          </a:p>
          <a:p>
            <a:r>
              <a:t>will track the new level beautifully and carry exactly the blindness that caused</a:t>
            </a:r>
          </a:p>
          <a:p>
            <a:r>
              <a:t>the breach. You have silenced the alarm and left the fire.</a:t>
            </a:r>
          </a:p>
          <a:p/>
          <a:p>
            <a:r>
              <a:t>And diagnose before you fix, because the three candidates need three different</a:t>
            </a:r>
          </a:p>
          <a:p>
            <a:r>
              <a:t>fixes and the wrong fix ships with new confidence attached. Unmeasured</a:t>
            </a:r>
          </a:p>
          <a:p>
            <a:r>
              <a:t>pressure: add the level variables. Changed instrument: re-base the series</a:t>
            </a:r>
          </a:p>
          <a:p>
            <a:r>
              <a:t>before it enters anything. Information environment: no macro variable will</a:t>
            </a:r>
          </a:p>
          <a:p>
            <a:r>
              <a:t>help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line, then I stop.</a:t>
            </a:r>
          </a:p>
          <a:p/>
          <a:p>
            <a:r>
              <a:t>A one-sided breach of a prediction interval is a specification failure, not a</a:t>
            </a:r>
          </a:p>
          <a:p>
            <a:r>
              <a:t>run of bad luck. Rebuild rather than recalibrate, and diagnose before you</a:t>
            </a:r>
          </a:p>
          <a:p>
            <a:r>
              <a:t>choose the fix.</a:t>
            </a:r>
          </a:p>
          <a:p/>
          <a:p>
            <a:r>
              <a:t>The summary underneath: the gap is real and large, the cost of money explains a</a:t>
            </a:r>
          </a:p>
          <a:p>
            <a:r>
              <a:t>good part of it, the survey's method a smaller part, and the tone of the news</a:t>
            </a:r>
          </a:p>
          <a:p>
            <a:r>
              <a:t>none of it on four separate pre-registered tests.</a:t>
            </a:r>
          </a:p>
          <a:p/>
          <a:p>
            <a:r>
              <a:t>And the grey line matters. We have no exposure data at all, so nothing here is</a:t>
            </a:r>
          </a:p>
          <a:p>
            <a:r>
              <a:t>a causal claim about what any reader read. That limit is in the report rather</a:t>
            </a:r>
          </a:p>
          <a:p>
            <a:r>
              <a:t>than buried, which is the only reason the rest of it is worth your trust.</a:t>
            </a:r>
          </a:p>
          <a:p/>
          <a:p>
            <a:r>
              <a:t>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1783080"/>
            <a:ext cx="2194560" cy="7315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5740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4400" b="1">
                <a:solidFill>
                  <a:srgbClr val="111110"/>
                </a:solidFill>
                <a:latin typeface="Helvetica Neue"/>
              </a:rPr>
              <a:t>Americans are far gloomier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4400" b="1">
                <a:solidFill>
                  <a:srgbClr val="111110"/>
                </a:solidFill>
                <a:latin typeface="Helvetica Neue"/>
              </a:rPr>
              <a:t>than the economy explains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977639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62615E"/>
                </a:solidFill>
                <a:latin typeface="Helvetica Neue"/>
              </a:rPr>
              <a:t>Five questions about the 2026 sentiment gap — and one practical implication for forecasting and risk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989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62615E"/>
                </a:solidFill>
                <a:latin typeface="Helvetica Neue"/>
              </a:rPr>
              <a:t>AI Applications in Finance  ·  analysis cutoff 2026-10-16  ·  no post-election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1371600" cy="6400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3100" b="1">
                <a:solidFill>
                  <a:srgbClr val="111110"/>
                </a:solidFill>
                <a:latin typeface="Helvetica Neue"/>
              </a:rPr>
              <a:t>Q1.  What exactly were we asked to find out?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1790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62615E"/>
                </a:solidFill>
                <a:latin typeface="Helvetica Neue"/>
              </a:rPr>
              <a:t>Consumer sentiment sits near record lows while unemployment and inflation look ordinary. Something has to give: either the indicators, the people, or the measurement.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975104"/>
            <a:ext cx="10789920" cy="1828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6543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1">
                <a:solidFill>
                  <a:srgbClr val="2A78D6"/>
                </a:solidFill>
                <a:latin typeface="Helvetica Neue"/>
              </a:rPr>
              <a:t>Whether US consumers are more pessimistic than the economy justifies — and if so, why.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55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2615E"/>
                </a:solidFill>
                <a:latin typeface="Helvetica Neue"/>
              </a:rPr>
              <a:t>1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1">
                <a:solidFill>
                  <a:srgbClr val="111110"/>
                </a:solidFill>
                <a:latin typeface="Helvetica Neue"/>
              </a:rPr>
              <a:t>Three candidate explanations. The whole task is to tell them apart.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20040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111110"/>
                </a:solidFill>
                <a:latin typeface="Helvetica Neue"/>
              </a:rPr>
              <a:t>A    Real economic pressure that the headline indicators miss.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111110"/>
                </a:solidFill>
                <a:latin typeface="Helvetica Neue"/>
              </a:rPr>
              <a:t>B    A distorted picture of the economy: selection, framing, negativity.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111110"/>
                </a:solidFill>
                <a:latin typeface="Helvetica Neue"/>
              </a:rPr>
              <a:t>C    Measurement: the survey changed, or our own model is too simple.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54406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C8531F"/>
                </a:solidFill>
                <a:latin typeface="Helvetica Neue"/>
              </a:rPr>
              <a:t>The brief forbids three assumptions: that pessimism is irrational, that negative coverage is biased coverage, and that coverage causes the mood. All three are hypotheses to test, and that is why a null result counts 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1371600" cy="64008"/>
          </a:xfrm>
          <a:prstGeom prst="rect">
            <a:avLst/>
          </a:prstGeom>
          <a:solidFill>
            <a:srgbClr val="C8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3100" b="1">
                <a:solidFill>
                  <a:srgbClr val="111110"/>
                </a:solidFill>
                <a:latin typeface="Helvetica Neue"/>
              </a:rPr>
              <a:t>Q2.  How big is the gap, and how do we know it is real?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1790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62615E"/>
                </a:solidFill>
                <a:latin typeface="Helvetica Neue"/>
              </a:rPr>
              <a:t>Fit the three standard indicators on 2010 to 2024. Then ask the fitted model about months it has never seen. The shaded band is the model's own 95% range.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975104"/>
            <a:ext cx="10789920" cy="18288"/>
          </a:xfrm>
          <a:prstGeom prst="rect">
            <a:avLst/>
          </a:prstGeom>
          <a:solidFill>
            <a:srgbClr val="C85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6543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1">
                <a:solidFill>
                  <a:srgbClr val="C8531F"/>
                </a:solidFill>
                <a:latin typeface="Helvetica Neue"/>
              </a:rPr>
              <a:t>A model that explains fifteen years of sentiment misses 2026 by 25 points, always downward.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55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2615E"/>
                </a:solidFill>
                <a:latin typeface="Helvetica Neue"/>
              </a:rPr>
              <a:t>2 / 5</a:t>
            </a:r>
          </a:p>
        </p:txBody>
      </p:sp>
      <p:pic>
        <p:nvPicPr>
          <p:cNvPr id="8" name="Picture 7" descr="deck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606040"/>
            <a:ext cx="7772400" cy="29893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23960" y="269748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3600" b="1">
                <a:solidFill>
                  <a:srgbClr val="2A78D6"/>
                </a:solidFill>
                <a:latin typeface="Helvetica Neue"/>
              </a:rPr>
              <a:t>76%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3502152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62615E"/>
                </a:solidFill>
                <a:latin typeface="Helvetica Neue"/>
              </a:rPr>
              <a:t>of sentiment explained,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62615E"/>
                </a:solidFill>
                <a:latin typeface="Helvetica Neue"/>
              </a:rPr>
              <a:t>2010 to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977639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3600" b="1">
                <a:solidFill>
                  <a:srgbClr val="C8531F"/>
                </a:solidFill>
                <a:latin typeface="Helvetica Neue"/>
              </a:rPr>
              <a:t>-25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4782311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62615E"/>
                </a:solidFill>
                <a:latin typeface="Helvetica Neue"/>
              </a:rPr>
              <a:t>average miss, index points,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62615E"/>
                </a:solidFill>
                <a:latin typeface="Helvetica Neue"/>
              </a:rPr>
              <a:t>2025 to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525780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3600" b="1">
                <a:solidFill>
                  <a:srgbClr val="B32D2D"/>
                </a:solidFill>
                <a:latin typeface="Helvetica Neue"/>
              </a:rPr>
              <a:t>19 of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6062472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62615E"/>
                </a:solidFill>
                <a:latin typeface="Helvetica Neue"/>
              </a:rPr>
              <a:t>months outside the model's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62615E"/>
                </a:solidFill>
                <a:latin typeface="Helvetica Neue"/>
              </a:rPr>
              <a:t>own 95% interval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1371600" cy="64008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3100" b="1">
                <a:solidFill>
                  <a:srgbClr val="111110"/>
                </a:solidFill>
                <a:latin typeface="Helvetica Neue"/>
              </a:rPr>
              <a:t>Q3.  Which of the three explanations does the evidence support?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1790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62615E"/>
                </a:solidFill>
                <a:latin typeface="Helvetica Neue"/>
              </a:rPr>
              <a:t>Judge each one by whether it helps predict a month the model has not seen, not by whether it raises R-squared. More regressors always raise R-squared.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975104"/>
            <a:ext cx="10789920" cy="18288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6543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1">
                <a:solidFill>
                  <a:srgbClr val="1A7F37"/>
                </a:solidFill>
                <a:latin typeface="Helvetica Neue"/>
              </a:rPr>
              <a:t>The cost of money, mostly. Not the news.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55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2615E"/>
                </a:solidFill>
                <a:latin typeface="Helvetica Neue"/>
              </a:rPr>
              <a:t>3 / 5</a:t>
            </a:r>
          </a:p>
        </p:txBody>
      </p:sp>
      <p:pic>
        <p:nvPicPr>
          <p:cNvPr id="8" name="Picture 7" descr="deck_foreca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0"/>
            <a:ext cx="7589520" cy="28460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49640" y="26060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111110"/>
                </a:solidFill>
                <a:latin typeface="Helvetica Neue"/>
              </a:rPr>
              <a:t>A  Mostly right.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111110"/>
                </a:solidFill>
                <a:latin typeface="Helvetica Neue"/>
              </a:rPr>
              <a:t>Adding the price level and the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111110"/>
                </a:solidFill>
                <a:latin typeface="Helvetica Neue"/>
              </a:rPr>
              <a:t>mortgage rate absorbs 27.6%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111110"/>
                </a:solidFill>
                <a:latin typeface="Helvetica Neue"/>
              </a:rPr>
              <a:t>of the gap. The mortgage rate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111110"/>
                </a:solidFill>
                <a:latin typeface="Helvetica Neue"/>
              </a:rPr>
              <a:t>does the work.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111110"/>
                </a:solidFill>
                <a:latin typeface="Helvetica Neue"/>
              </a:rPr>
              <a:t>C  Partly, and smaller.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111110"/>
                </a:solidFill>
                <a:latin typeface="Helvetica Neue"/>
              </a:rPr>
              <a:t>A real break at the survey's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111110"/>
                </a:solidFill>
                <a:latin typeface="Helvetica Neue"/>
              </a:rPr>
              <a:t>method change, but an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111110"/>
                </a:solidFill>
                <a:latin typeface="Helvetica Neue"/>
              </a:rPr>
              <a:t>independent survey is gloomy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111110"/>
                </a:solidFill>
                <a:latin typeface="Helvetica Neue"/>
              </a:rPr>
              <a:t>too.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111110"/>
                </a:solidFill>
                <a:latin typeface="Helvetica Neue"/>
              </a:rPr>
              <a:t>B  Fails.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111110"/>
                </a:solidFill>
                <a:latin typeface="Helvetica Neue"/>
              </a:rPr>
              <a:t>The attractive story did not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111110"/>
                </a:solidFill>
                <a:latin typeface="Helvetica Neue"/>
              </a:rPr>
              <a:t>survive its own test.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9436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1A7F37"/>
                </a:solidFill>
                <a:latin typeface="Helvetica Neue"/>
              </a:rPr>
              <a:t>Inflation falling is news about a RATE. A household pays a LEVEL. Prices stopped rising fast; they did not come down.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1371600" cy="64008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3100" b="1">
                <a:solidFill>
                  <a:srgbClr val="111110"/>
                </a:solidFill>
                <a:latin typeface="Helvetica Neue"/>
              </a:rPr>
              <a:t>Q4.  Why is “the media explanation fails” a finding and not a dead end?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1790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62615E"/>
                </a:solidFill>
                <a:latin typeface="Helvetica Neue"/>
              </a:rPr>
              <a:t>We ran 12 tests on the media block. Run enough tests and something always reaches 5% by luck, so the chart corrects for how many we ran.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975104"/>
            <a:ext cx="10789920" cy="18288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6543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1">
                <a:solidFill>
                  <a:srgbClr val="B32D2D"/>
                </a:solidFill>
                <a:latin typeface="Helvetica Neue"/>
              </a:rPr>
              <a:t>Because the conditions that would kill it were fixed before the corpus existed — and they held.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55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2615E"/>
                </a:solidFill>
                <a:latin typeface="Helvetica Neue"/>
              </a:rPr>
              <a:t>4 / 5</a:t>
            </a:r>
          </a:p>
        </p:txBody>
      </p:sp>
      <p:pic>
        <p:nvPicPr>
          <p:cNvPr id="8" name="Picture 7" descr="deck_multipl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606040"/>
            <a:ext cx="6858000" cy="31371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18120" y="260604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111110"/>
                </a:solidFill>
                <a:latin typeface="Helvetica Neue"/>
              </a:rPr>
              <a:t>4 of 12 tests reach 5% raw.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111110"/>
                </a:solidFill>
                <a:latin typeface="Helvetica Neue"/>
              </a:rPr>
              <a:t>0 survive the correction.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111110"/>
                </a:solidFill>
                <a:latin typeface="Helvetica Neue"/>
              </a:rPr>
              <a:t>The media block did not improve a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111110"/>
                </a:solidFill>
                <a:latin typeface="Helvetica Neue"/>
              </a:rPr>
              <a:t>forecast of an unseen month.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111110"/>
                </a:solidFill>
                <a:latin typeface="Helvetica Neue"/>
              </a:rPr>
              <a:t>Both coefficients died in 24 of 24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111110"/>
                </a:solidFill>
                <a:latin typeface="Helvetica Neue"/>
              </a:rPr>
              <a:t>specification variants once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111110"/>
                </a:solidFill>
                <a:latin typeface="Helvetica Neue"/>
              </a:rPr>
              <a:t>household controls entered.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111110"/>
                </a:solidFill>
                <a:latin typeface="Helvetica Neue"/>
              </a:rPr>
              <a:t>The only timing signal runs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111110"/>
                </a:solidFill>
                <a:latin typeface="Helvetica Neue"/>
              </a:rPr>
              <a:t>BACKWARDS: mood first,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111110"/>
                </a:solidFill>
                <a:latin typeface="Helvetica Neue"/>
              </a:rPr>
              <a:t>coverage after.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5559552"/>
            <a:ext cx="10881360" cy="18288"/>
          </a:xfrm>
          <a:prstGeom prst="rect">
            <a:avLst/>
          </a:prstGeom>
          <a:solidFill>
            <a:srgbClr val="E6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687568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B32D2D"/>
                </a:solidFill>
                <a:latin typeface="Helvetica Neue"/>
              </a:rPr>
              <a:t>The sharpest finding is about the instrument, not the economy: FinBERT changes its verdict on 5.8% of byte-identical texts when only the outlet's name changes, where the word list changes on 0%. A classifier that reads the label would have manufactured the bias we went looking for.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475488"/>
            <a:ext cx="1371600" cy="6400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3100" b="1">
                <a:solidFill>
                  <a:srgbClr val="111110"/>
                </a:solidFill>
                <a:latin typeface="Helvetica Neue"/>
              </a:rPr>
              <a:t>Q5.  So what should I do differently with a model that misses?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1790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62615E"/>
                </a:solidFill>
                <a:latin typeface="Helvetica Neue"/>
              </a:rPr>
              <a:t>This generalises past consumer sentiment. Any model you own will start missing. The question is how you tell a drifted level from a missing variable.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975104"/>
            <a:ext cx="10789920" cy="1828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6543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1">
                <a:solidFill>
                  <a:srgbClr val="2A78D6"/>
                </a:solidFill>
                <a:latin typeface="Helvetica Neue"/>
              </a:rPr>
              <a:t>Treat a one-sided breach as a specification failure. Rebuild — do not recalibrate.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55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2615E"/>
                </a:solidFill>
                <a:latin typeface="Helvetica Neue"/>
              </a:rPr>
              <a:t>5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0">
                <a:solidFill>
                  <a:srgbClr val="111110"/>
                </a:solidFill>
                <a:latin typeface="Helvetica Neue"/>
              </a:rPr>
              <a:t>Recalibrate when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0">
                <a:solidFill>
                  <a:srgbClr val="111110"/>
                </a:solidFill>
                <a:latin typeface="Helvetica Neue"/>
              </a:rPr>
              <a:t>errors are large but BALANCED.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0">
                <a:solidFill>
                  <a:srgbClr val="111110"/>
                </a:solidFill>
                <a:latin typeface="Helvetica Neue"/>
              </a:rPr>
              <a:t>The relationship holds and the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0">
                <a:solidFill>
                  <a:srgbClr val="111110"/>
                </a:solidFill>
                <a:latin typeface="Helvetica Neue"/>
              </a:rPr>
              <a:t>level has drifted.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432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1">
                <a:solidFill>
                  <a:srgbClr val="2A78D6"/>
                </a:solidFill>
                <a:latin typeface="Helvetica Neue"/>
              </a:rPr>
              <a:t>Rebuild when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1">
                <a:solidFill>
                  <a:srgbClr val="2A78D6"/>
                </a:solidFill>
                <a:latin typeface="Helvetica Neue"/>
              </a:rPr>
              <a:t>errors are ONE-SIDED and outside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1">
                <a:solidFill>
                  <a:srgbClr val="2A78D6"/>
                </a:solidFill>
                <a:latin typeface="Helvetica Neue"/>
              </a:rPr>
              <a:t>the interval. Something the model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800" b="1">
                <a:solidFill>
                  <a:srgbClr val="2A78D6"/>
                </a:solidFill>
                <a:latin typeface="Helvetica Neue"/>
              </a:rPr>
              <a:t>cannot see is moving the outcome.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663440"/>
            <a:ext cx="10424160" cy="18288"/>
          </a:xfrm>
          <a:prstGeom prst="rect">
            <a:avLst/>
          </a:prstGeom>
          <a:solidFill>
            <a:srgbClr val="E6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846320"/>
            <a:ext cx="10424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111110"/>
                </a:solidFill>
                <a:latin typeface="Helvetica Neue"/>
              </a:rPr>
              <a:t>Re-fit this model on the new level and it tracks the new level beautifully — and keeps exactly the blindness that caused the breach. You have silenced the alarm, not put out the fire.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rgbClr val="111110"/>
                </a:solidFill>
                <a:latin typeface="Helvetica Neue"/>
              </a:rPr>
              <a:t>Then diagnose before you fix. Unmeasured pressure: add the level variables — cumulative prices, the mortgage rate, debt service. A changed instrument: re-base the series before it enters anything. An information driver: no macro variable helps, and a text feed becomes necessary.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868680"/>
            <a:ext cx="2194560" cy="7315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3400" b="1">
                <a:solidFill>
                  <a:srgbClr val="111110"/>
                </a:solidFill>
                <a:latin typeface="Helvetica Neue"/>
              </a:rPr>
              <a:t>In 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3000" b="1">
                <a:solidFill>
                  <a:srgbClr val="2A78D6"/>
                </a:solidFill>
                <a:latin typeface="Helvetica Neue"/>
              </a:rPr>
              <a:t>A one-sided breach of a prediction interval is a specification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3000" b="1">
                <a:solidFill>
                  <a:srgbClr val="2A78D6"/>
                </a:solidFill>
                <a:latin typeface="Helvetica Neue"/>
              </a:rPr>
              <a:t>failure, not a run of bad luck.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111110"/>
                </a:solidFill>
                <a:latin typeface="Helvetica Neue"/>
              </a:rPr>
              <a:t>The gap is real and large. The cost of money explains a good part of it. The survey's method explains a smaller part. The tone of the news explains none of it, on four separate tests fixed in advance.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111110"/>
                </a:solidFill>
                <a:latin typeface="Helvetica Neue"/>
              </a:rPr>
              <a:t>Knowing where not to spend is worth as much as knowing where to spend.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62615E"/>
                </a:solidFill>
                <a:latin typeface="Helvetica Neue"/>
              </a:rPr>
              <a:t>No exposure data, so no causal claim about readers. Limits are stated in the report, not buried.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